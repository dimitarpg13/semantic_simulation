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93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26"/>
  </p:normalViewPr>
  <p:slideViewPr>
    <p:cSldViewPr snapToGrid="0">
      <p:cViewPr>
        <p:scale>
          <a:sx n="286" d="100"/>
          <a:sy n="286" d="100"/>
        </p:scale>
        <p:origin x="-3656" y="-5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DF61D-F41C-8FAC-F7B8-D90957438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AEF79-126D-773D-03D6-8AAF4B87C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5B8E5-10C5-B7FC-70BD-57A219A14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B20FD-4676-7544-B6B1-AA9D583F04F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0FD84-6BBC-6381-5AEE-AB059F14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D93CD-C21F-5B3F-93F6-92CBF50AC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06DE-0216-8D4C-B3A1-98F5A7D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851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D5F2B-664F-6442-9CC2-B55A267DC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55BDD-D1CA-BAD9-A8DA-4671A536B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67A09-4666-2A94-4CD8-08571DF84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B20FD-4676-7544-B6B1-AA9D583F04F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A41FA-37C8-816F-B92A-906000AFE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DBC14-6CFF-FE4F-0192-794CD51EE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06DE-0216-8D4C-B3A1-98F5A7D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7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D8E49-B5CB-E068-403A-F3F5AFE30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F367D-E72B-13BF-9CE4-A31228AAA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7CE7C-8A6D-1E6D-6F68-066A13E38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B20FD-4676-7544-B6B1-AA9D583F04F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2C3FA-CE8C-FDCE-65EB-DC10E8894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3D8CA-19BC-0B4E-E837-030F3FD4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06DE-0216-8D4C-B3A1-98F5A7D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92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BEAB6-F23D-6945-DCAC-20FADBABA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72DE5-8277-7943-F912-D0C7636012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94F891-5332-C2E0-9E98-DE4954019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AD4FB-381F-95E9-9424-2BA6D11E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B20FD-4676-7544-B6B1-AA9D583F04F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89D71-651E-EC66-9E42-63ADB3047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0B15E-8B3F-4ADF-025D-AE9000061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06DE-0216-8D4C-B3A1-98F5A7D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6A4F-211E-2782-E98F-FC30AED21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AF0FB-F6E5-8F09-7604-3C5D9F2DE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3F456-05E3-25E7-E516-8AA227620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6EB15C-C1CB-33AD-4A68-0848BC0E34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723B48-0FB2-8DCA-7D6B-45950418E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7B48AD-8134-30BA-9E50-C9E0A4B6C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B20FD-4676-7544-B6B1-AA9D583F04F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34B0B6-5DE0-11A5-FD30-2D693F666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E0F51A-5A9D-62A6-752C-1B407EFEE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06DE-0216-8D4C-B3A1-98F5A7D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3DC52-CD29-507A-7458-600260423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22C56F-FC46-C622-E460-F573DEC9F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B20FD-4676-7544-B6B1-AA9D583F04F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13BA81-485F-3520-DD9B-9259CCAFA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1AC0C-5C3A-187E-63B1-A68B916D5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06DE-0216-8D4C-B3A1-98F5A7D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68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7810B-6CF6-A0FE-9363-3DE293749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B20FD-4676-7544-B6B1-AA9D583F04F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2CFE0B-4538-EC7B-0FAF-62B3346DA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0A316-062D-0AD4-0A9A-888FC61AE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06DE-0216-8D4C-B3A1-98F5A7D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21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BB0DA-5417-4A18-F5B1-D7F052895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C5C59-8B3E-EA29-15C4-D599AAB03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7B4177-3564-A5E8-8F5E-61F7CE7B9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E0097-5726-21F5-2214-45A115890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B20FD-4676-7544-B6B1-AA9D583F04F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01362-B6BE-E670-5BBA-BADCB7AC8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B4531-A40C-E461-EC3F-0A769AADF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06DE-0216-8D4C-B3A1-98F5A7D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959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89111-0C83-DF40-9422-A49A2AA2A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265B03-2A15-2D47-1FED-E0144B3D09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27D963-7AB0-2E05-EC4A-4D49F7077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76893-004B-B40F-6DFE-11915FF37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B20FD-4676-7544-B6B1-AA9D583F04F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217B7-AE18-B320-1D1F-78185010E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C65F6-5BBC-E3AB-1DD9-E230F275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06DE-0216-8D4C-B3A1-98F5A7D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953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4282E-B74D-EB4F-8C7C-B3FA13C93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A6AEF-31A7-252E-A74E-DB87F9123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DAED8-0371-1D72-7050-F9B943F3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B20FD-4676-7544-B6B1-AA9D583F04F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95636-BC09-CCD6-8745-EC8694B88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0B46F-A91E-E5F9-4813-FA7645D5C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06DE-0216-8D4C-B3A1-98F5A7D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28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BCCDD6-9520-AC3D-A973-90D31604C2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B9A217-8C91-5BB7-A539-244E104BC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4CDDF-9368-CCF2-C794-B8C01DC67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B20FD-4676-7544-B6B1-AA9D583F04F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A5130-17EC-15A1-46EE-584B218D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72CEA-0D86-5C50-1331-A8EB39932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06DE-0216-8D4C-B3A1-98F5A7D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09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579485-375A-0003-74FA-CE25554B6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392A3-1276-972C-B37D-42C948838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64C17-F0F2-21DC-CB35-9FF78C0869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B20FD-4676-7544-B6B1-AA9D583F04F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0B760-C370-9F52-A1B7-143C533EE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8D4A-5785-0E91-C195-31BC8D1CD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B706DE-0216-8D4C-B3A1-98F5A7D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62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A2428F0-D6AB-E5EF-F283-D7FF95ADDD72}"/>
                  </a:ext>
                </a:extLst>
              </p:cNvPr>
              <p:cNvSpPr/>
              <p:nvPr/>
            </p:nvSpPr>
            <p:spPr>
              <a:xfrm>
                <a:off x="3191774" y="905774"/>
                <a:ext cx="2719458" cy="647897"/>
              </a:xfrm>
              <a:prstGeom prst="roundRect">
                <a:avLst/>
              </a:prstGeom>
              <a:solidFill>
                <a:schemeClr val="accent5">
                  <a:alpha val="26613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solidFill>
                      <a:schemeClr val="tx1"/>
                    </a:solidFill>
                  </a:rPr>
                  <a:t>Lagrangian Mechanics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r>
                        <a:rPr lang="en-US" sz="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r>
                        <a:rPr lang="en-US" sz="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p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r>
                        <a:rPr lang="en-US" sz="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A2428F0-D6AB-E5EF-F283-D7FF95ADDD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774" y="905774"/>
                <a:ext cx="2719458" cy="64789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2EF0B5C9-B2FD-4957-5E8C-9A5AFBF2EF3A}"/>
                  </a:ext>
                </a:extLst>
              </p:cNvPr>
              <p:cNvSpPr/>
              <p:nvPr/>
            </p:nvSpPr>
            <p:spPr>
              <a:xfrm>
                <a:off x="3191774" y="2013034"/>
                <a:ext cx="2719458" cy="647897"/>
              </a:xfrm>
              <a:prstGeom prst="roundRect">
                <a:avLst/>
              </a:prstGeom>
              <a:solidFill>
                <a:srgbClr val="949318">
                  <a:alpha val="25882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solidFill>
                      <a:schemeClr val="tx1"/>
                    </a:solidFill>
                  </a:rPr>
                  <a:t>Energy Conservation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r>
                        <a:rPr lang="en-US" sz="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9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900" dirty="0">
                    <a:solidFill>
                      <a:schemeClr val="tx1"/>
                    </a:solidFill>
                  </a:rPr>
                  <a:t>Accessible region: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9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9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2EF0B5C9-B2FD-4957-5E8C-9A5AFBF2EF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774" y="2013034"/>
                <a:ext cx="2719458" cy="64789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43469090-12FC-DD42-7B06-28D0B213EFAE}"/>
                  </a:ext>
                </a:extLst>
              </p:cNvPr>
              <p:cNvSpPr/>
              <p:nvPr/>
            </p:nvSpPr>
            <p:spPr>
              <a:xfrm>
                <a:off x="3191774" y="3152662"/>
                <a:ext cx="2719458" cy="647897"/>
              </a:xfrm>
              <a:prstGeom prst="roundRect">
                <a:avLst/>
              </a:prstGeom>
              <a:solidFill>
                <a:srgbClr val="92D050">
                  <a:alpha val="25882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solidFill>
                      <a:schemeClr val="tx1"/>
                    </a:solidFill>
                  </a:rPr>
                  <a:t>Maupertuis principle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9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sz="9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sz="9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9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e>
                    </m:nary>
                    <m:r>
                      <a:rPr lang="en-US" sz="9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𝑇𝑑</m:t>
                        </m:r>
                        <m:r>
                          <a:rPr lang="en-US" sz="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e>
                    </m:nary>
                  </m:oMath>
                </a14:m>
                <a:r>
                  <a:rPr lang="en-US" sz="900" dirty="0">
                    <a:solidFill>
                      <a:schemeClr val="tx1"/>
                    </a:solidFill>
                  </a:rPr>
                  <a:t>0 (fixed endpoints, fixed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9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43469090-12FC-DD42-7B06-28D0B213EF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774" y="3152662"/>
                <a:ext cx="2719458" cy="647897"/>
              </a:xfrm>
              <a:prstGeom prst="roundRect">
                <a:avLst/>
              </a:prstGeom>
              <a:blipFill>
                <a:blip r:embed="rId4"/>
                <a:stretch>
                  <a:fillRect t="-7547" b="-28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B97858E-892C-FB1E-3C88-BB9D2EFAF859}"/>
                  </a:ext>
                </a:extLst>
              </p:cNvPr>
              <p:cNvSpPr/>
              <p:nvPr/>
            </p:nvSpPr>
            <p:spPr>
              <a:xfrm>
                <a:off x="3191774" y="4292290"/>
                <a:ext cx="2719458" cy="647897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  <a:alpha val="25882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solidFill>
                      <a:schemeClr val="tx1"/>
                    </a:solidFill>
                  </a:rPr>
                  <a:t>Jacobi metric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9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sz="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</m:d>
                      <m:r>
                        <a:rPr lang="en-US" sz="9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sz="9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900" dirty="0">
                    <a:solidFill>
                      <a:schemeClr val="tx1"/>
                    </a:solidFill>
                  </a:rPr>
                  <a:t>Riemannian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sz="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9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9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</m:oMath>
                </a14:m>
                <a:endParaRPr lang="en-US" sz="9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B97858E-892C-FB1E-3C88-BB9D2EFAF8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774" y="4292290"/>
                <a:ext cx="2719458" cy="64789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0469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5662</TotalTime>
  <Words>65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Dimitar Gueorguiev</dc:creator>
  <cp:lastModifiedBy>Gueorguiev, Dimitar</cp:lastModifiedBy>
  <cp:revision>7</cp:revision>
  <dcterms:created xsi:type="dcterms:W3CDTF">2026-06-10T12:06:42Z</dcterms:created>
  <dcterms:modified xsi:type="dcterms:W3CDTF">2026-08-16T04:53:12Z</dcterms:modified>
</cp:coreProperties>
</file>